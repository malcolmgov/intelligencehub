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19456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Engineering Scorecard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  •  Q2 FY26  •  Head of AI &amp; Automation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0" y="2468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0" y="246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ON TRACK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7315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— DORA four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105156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1051560"/>
            <a:ext cx="54864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16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50592" y="1801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50592" y="208483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− 38% vs. baseline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50592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merged to prod; elite band.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54864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216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/wk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19472" y="1801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9472" y="208483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+ 27% vs. baseline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engineering team.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05156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051560"/>
            <a:ext cx="54864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1216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88352" y="1801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88352" y="208483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− 1.1 pts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88352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tolerance of 8%.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92640" y="105156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92640" y="1051560"/>
            <a:ext cx="54864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57232" y="121615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h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857232" y="1801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restore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57232" y="208483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− 22%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57232" y="23317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to restore (MTTR).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3246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Enterprise — adoption and realised value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0" y="283464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0" y="283464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299923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/180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2450592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Copilot users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50592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+ 34 since pilot end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50592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eligible engineers.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83464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83464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299923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4919472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acceptance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19472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pts vs. pilot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19472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25%.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23760" y="283464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23760" y="283464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299923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h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7388352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time saved / dev / wk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388352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Triangulates with DORA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88352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telemetry.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92640" y="283464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692640" y="283464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57232" y="299923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9857232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projects in flight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857232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QoQ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857232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with AI Council.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617720"/>
            <a:ext cx="73152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02920" y="50292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and control posture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86000" y="461772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286000" y="461772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50592" y="478231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69" name="Text 67"/>
          <p:cNvSpPr/>
          <p:nvPr/>
        </p:nvSpPr>
        <p:spPr>
          <a:xfrm>
            <a:off x="2450592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from sandbox reaching prod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2450592" y="5650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450592" y="5897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Quarter-on-quarter.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54880" y="461772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754880" y="461772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19472" y="478231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3000" dirty="0"/>
          </a:p>
        </p:txBody>
      </p:sp>
      <p:sp>
        <p:nvSpPr>
          <p:cNvPr id="75" name="Text 73"/>
          <p:cNvSpPr/>
          <p:nvPr/>
        </p:nvSpPr>
        <p:spPr>
          <a:xfrm>
            <a:off x="4919472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policy compliance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919472" y="5650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pts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919472" y="5897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initiative applied.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223760" y="461772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223760" y="461772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8352" y="478231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81" name="Text 79"/>
          <p:cNvSpPr/>
          <p:nvPr/>
        </p:nvSpPr>
        <p:spPr>
          <a:xfrm>
            <a:off x="7388352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Shadow-AI detections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388352" y="5650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− 9 QoQ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388352" y="5897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remediated within SLA.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692640" y="4617720"/>
            <a:ext cx="235915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692640" y="461772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857232" y="478231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87 %</a:t>
            </a:r>
            <a:endParaRPr lang="en-US" sz="3000" dirty="0"/>
          </a:p>
        </p:txBody>
      </p:sp>
      <p:sp>
        <p:nvSpPr>
          <p:cNvPr id="87" name="Text 85"/>
          <p:cNvSpPr/>
          <p:nvPr/>
        </p:nvSpPr>
        <p:spPr>
          <a:xfrm>
            <a:off x="9857232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secure-score (sandboxes)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857232" y="5650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pts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857232" y="5897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85%.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F1F44"/>
          </a:solidFill>
          <a:ln w="12700">
            <a:solidFill>
              <a:srgbClr val="0F1F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6355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focus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2514600" y="63550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Copilot to 100%  •  Two customer-facing AI use cases through AI Council gate  •  First external audit dry-run  •  ISO 42001 gap assessment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Engineering Board Scorecard</dc:title>
  <dc:subject>PptxGenJS Presentation</dc:subject>
  <dc:creator>Head of AI &amp; Automation</dc:creator>
  <cp:lastModifiedBy>Head of AI &amp; Automation</cp:lastModifiedBy>
  <cp:revision>1</cp:revision>
  <dcterms:created xsi:type="dcterms:W3CDTF">2026-04-22T14:37:11Z</dcterms:created>
  <dcterms:modified xsi:type="dcterms:W3CDTF">2026-04-22T14:37:11Z</dcterms:modified>
</cp:coreProperties>
</file>